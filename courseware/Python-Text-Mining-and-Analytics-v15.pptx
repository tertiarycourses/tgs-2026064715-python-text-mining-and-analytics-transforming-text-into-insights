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98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95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92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101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98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95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92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89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101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98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98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95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92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101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98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95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92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89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101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98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95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92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101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98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95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92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89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101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98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95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92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101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98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95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92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89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101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98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98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95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92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101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98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95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92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106</c:v>
                </c:pt>
                <c:pt idx="2">
                  <c:v>89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102</c:v>
                </c:pt>
                <c:pt idx="2">
                  <c:v>101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98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corpus records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Input</c:v>
                </c:pt>
                <c:pt idx="1">
                  <c:v>Filtered</c:v>
                </c:pt>
                <c:pt idx="2">
                  <c:v>Validated</c:v>
                </c:pt>
                <c:pt idx="3">
                  <c:v>Reported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109</c:v>
                </c:pt>
                <c:pt idx="2">
                  <c:v>95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3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9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0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3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4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-mining-cover-v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457200"/>
            <a:ext cx="64922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6035040" cy="1371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Python Text Mining and Analytics: Transforming Text into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58521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09199"/>
                </a:solidFill>
                <a:latin typeface="Aptos"/>
              </a:defRPr>
            </a:pPr>
            <a:r>
              <a:t>TGS-2026064715  |  WSQ  |  v15  |  14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273845"/>
                </a:solidFill>
                <a:latin typeface="Aptos"/>
              </a:defRPr>
            </a:pPr>
            <a:r>
              <a:t>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COURSE ADMINISTRATION · 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329184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10058400" cy="1828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400" b="0">
                <a:solidFill>
                  <a:srgbClr val="0F2D41"/>
                </a:solidFill>
                <a:latin typeface="Aptos"/>
              </a:defRPr>
            </a:pPr>
            <a:r>
              <a:t>Complete AM, PM and assessment digital attendance through the provider QR process. Minimum attendance requirements apply.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1: CRISP-DM and corpus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840480" cy="1463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0">
                <a:solidFill>
                  <a:srgbClr val="0F2D41"/>
                </a:solidFill>
                <a:latin typeface="Aptos"/>
              </a:defRPr>
            </a:pPr>
            <a:r>
              <a:t>Technical evidence from a synthetic Singapore hotel-review corpus</a:t>
            </a:r>
          </a:p>
        </p:txBody>
      </p:sp>
      <p:pic>
        <p:nvPicPr>
          <p:cNvPr id="10" name="Picture 9" descr="tokenization-divider-v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19"/>
            <a:ext cx="6720840" cy="37856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297680"/>
            <a:ext cx="3749039" cy="114300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333756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09199"/>
                </a:solidFill>
                <a:latin typeface="Aptos"/>
              </a:defRPr>
            </a:pPr>
            <a:r>
              <a:t>DATA → MODEL →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negative share by hotel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define target, unit and decision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negative share by hotel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define target, unit and decision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sampling bias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Business question: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negative share by hotel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review_id + sentiment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define target, unit and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Business question: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define target, unit and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Business question: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sampling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negative share by hotel; confirm define target, unit and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CRISP-DM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six linked phases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iterate evaluation into preparation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six linked phases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iterate evaluation into preparation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linear waterfall assumption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CRISP-DM phases: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six linked phases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business → data → prepare → model → evaluate →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iterate evaluation into preparation.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CRISP-DM phases: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iterate evaluation into preparation.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CRISP-DM phases: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linear waterfall assumption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six linked phases; confirm iterate evaluation into preparation.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Data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review_id, date, hotel,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profile rows and nulls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review_id, date, hotel,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profile rows and nulls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duplicate IDs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Data inventory: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review_id, date, hotel,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df.info(); df.isna().sum()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profile rows and nulls.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Data inventory: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profile rows and nulls.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Data inventory: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duplicate 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review_id, date, hotel, text; confirm profile rows and nulls.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Label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positive / neutral /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define annotation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positive / neutral / 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define annotation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rating-label disagreement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Label schema: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positive / neutral / 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df.sentiment.value_counts()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define annotation rules.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Label schema: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define annotation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Label schema: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rating-label disagreement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positive / neutral / negative; confirm define annotation rules.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synthetic hotel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retain source and date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synthetic hotel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retain source and date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unlicensed scraped text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provenance: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synthetic hotel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review_id, channel,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retain source and date fields.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provenance: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retain source and date fields.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provenance: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unlicensed scraped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synthetic hotel reviews; confirm retain source and date fields.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Sampling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hotel × channel ×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strata proportions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hotel × channel ×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strata proportions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channel overrepresentation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Sampling frame: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hotel × channel ×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pd.crosstab(df.hotel, df.channel)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strata proportions.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Sampling frame: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strata proportions.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Sampling frame: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channel overrepresentation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hotel × channel × month; confirm compare strata proportions.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Success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macro F1 and negative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tie metric to response 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macro F1 and negative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tie metric to response triage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accuracy hides minority failure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Success metric: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macro F1 and negative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classification_report(y_true, y_pred)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tie metric to response triage.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Success metric: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tie metric to response triage.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Success metric: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accuracy hides minority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macro F1 and negative recall; confirm tie metric to response triage.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Train-test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stratified holdout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fit vocabulary on train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stratified holdout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fit vocabulary on train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TF-IDF leakage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Train-test boundary: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stratified holdout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train_test_split(..., stratify=y)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fit vocabulary on train only.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Train-test boundary: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fit vocabulary on train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Train-test boundary: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TF-IDF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stratified holdout; confirm fit vocabulary on train only.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Baseline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majority and keyword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value above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majority and keyword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value above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overclaiming uplift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Baseline analysis: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majority and keyword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DummyClassifier(strategy="most_frequent")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value above baseline.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Baseline analysis: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value above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Baseline analysis: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overclaiming uplift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majority and keyword rules; confirm compare value above baseline.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Deployment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weekly insight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specify owner and drift monitor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weekly insight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specify owner and drift monitor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model decay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Deployment evidence: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weekly insight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review volume + macro F1 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specify owner and drift monitor.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Deployment evidence: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specify owner and drift monitor.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Deployment evidence: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model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weekly insight dashboard; confirm specify owner and drift monitor.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MECHANISM ·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NLU and NLG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intent extraction vs text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choose task-specific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intent extraction vs text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choose task-specific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generated text mistaken for evidence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CODE ·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NLU and NLG boundary: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intent extraction vs text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NLU: classify; NLG: 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choose task-specific output.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EDITABLE CHART ·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NLU and NLG boundary: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choose task-specific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1 · DIAGNOSTIC ·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NLU and NLG boundary: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generated text mistaken for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intent extraction vs text generation; confirm choose task-specific output.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2: Text cleaning and vectorization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840480" cy="1463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0">
                <a:solidFill>
                  <a:srgbClr val="0F2D41"/>
                </a:solidFill>
                <a:latin typeface="Aptos"/>
              </a:defRPr>
            </a:pPr>
            <a:r>
              <a:t>Technical evidence from a synthetic Singapore hotel-review corpus</a:t>
            </a:r>
          </a:p>
        </p:txBody>
      </p:sp>
      <p:pic>
        <p:nvPicPr>
          <p:cNvPr id="10" name="Picture 9" descr="tokenization-divider-v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19"/>
            <a:ext cx="6720840" cy="37856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297680"/>
            <a:ext cx="3749039" cy="114300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333756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09199"/>
                </a:solidFill>
                <a:latin typeface="Aptos"/>
              </a:defRPr>
            </a:pPr>
            <a:r>
              <a:t>DATA → MODEL → INSIGHT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ingestion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CSV to DataFrame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validate encoding and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CSV to DataFrame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validate encoding and schema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silent dtype coercion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ingestion: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CSV to DataFrame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pd.read_csv("hotel_reviews.csv")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validate encoding and schema.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ingestion: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validate encoding and schema.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Corpus ingestion: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silent dtype coercion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CSV to DataFrame; confirm validate encoding and schema.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Unicode normalization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NFKC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before/after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NFKC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before/after 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meaningful symbols lost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Unicode normalization: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NFKC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unicodedata.normalize("NFKC",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before/after tokens.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Unicode normalization: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before/after tokens.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Unicode normalization: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meaningful symbols lost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NFKC form; confirm compare before/after tokens.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regex word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measure token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regex word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measure token 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contractions split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Tokenization: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regex word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re.findall(r"[A-Za-z]+",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measure token count.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Tokenization: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59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measure token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Tokenization: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contractions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regex word tokens; confirm measure token count.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Case folding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lowercase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collapse variant terms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lowercase vocabulary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collapse variant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acronym loss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Case folding: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lowercase vocabulary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text.lower()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collapse variant terms.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Case folding: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collapse variant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Case folding: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acronym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lowercase vocabulary; confirm collapse variant terms.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Punctuation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preserve useful punctuation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sentiment cue retention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preserve useful punctuation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sentiment cue retention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negation lost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Punctuation policy: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preserve useful punctuation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re.sub(r"[^\w\s]", " ",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sentiment cue retention.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Punctuation policy: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sentiment cue retention.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Punctuation policy: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negation lost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preserve useful punctuation; confirm compare sentiment cue retention.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Stop-word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domain stop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retain not/no for sentiment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domain stop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retain not/no for sentiment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negation removal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Stop-word policy: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domain stop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CountVectorizer(stop_words=None)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retain not/no for sentiment.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Stop-word policy: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retain not/no for sentiment.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Stop-word policy: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negation removal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domain stop list; confirm retain not/no for sentiment.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Stemming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Porter 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stem collisions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Porter 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stem collisions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interpretability loss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Stemming: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Porter 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PorterStemmer().stem("booking")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stem collisions.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Stemming: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stem collisions.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Stemming: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interpretability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Porter stems; confirm compare stem collisions.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Lemmatization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WordNet lemmas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part-of-speech dependence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WordNet lemmas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part-of-speech dependence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missing WordNet corpus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Lemmatization: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WordNet lemmas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WordNetLemmatizer().lemmatize("rooms")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part-of-speech dependence.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Lemmatization: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79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part-of-speech dependence.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Lemmatization: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missing WordNet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WordNet lemmas; confirm inspect part-of-speech dependence.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Term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document-term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vocabulary dimensions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document-term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vocabulary dimensions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rare-term noise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Term frequency: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document-term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CountVectorizer(min_df=2)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vocabulary dimensions.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Term frequency: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vocabulary dimensions.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Term frequency: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rare-term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document-term matrix; confirm inspect vocabulary dimensions.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MECHANISM · 2.10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TF-IDF and n-grams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weighted sparse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bigram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weighted sparse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bigram signal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high-dimensional sparsity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CODE · 2.10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TF-IDF and n-grams: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weighted sparse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TfidfVectorizer(ngram_range=(1,2))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bigram signal.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EDITABLE CHART · 2.10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TF-IDF and n-grams: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bigram signal.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2 · DIAGNOSTIC · 2.10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TF-IDF and n-grams: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high-dimensional sparsity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weighted sparse matrix; confirm compare bigram signal.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3: Text analytics and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840480" cy="1463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0">
                <a:solidFill>
                  <a:srgbClr val="0F2D41"/>
                </a:solidFill>
                <a:latin typeface="Aptos"/>
              </a:defRPr>
            </a:pPr>
            <a:r>
              <a:t>Technical evidence from a synthetic Singapore hotel-review corpus</a:t>
            </a:r>
          </a:p>
        </p:txBody>
      </p:sp>
      <p:pic>
        <p:nvPicPr>
          <p:cNvPr id="10" name="Picture 9" descr="tokenization-divider-v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19"/>
            <a:ext cx="6720840" cy="37856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297680"/>
            <a:ext cx="3749039" cy="114300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333756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09199"/>
                </a:solidFill>
                <a:latin typeface="Aptos"/>
              </a:defRPr>
            </a:pPr>
            <a:r>
              <a:t>DATA → MODEL → INSIGHT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POS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tokens with grammatical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identify issue noun phrases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tokens with grammatical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identify issue noun phrases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tagger domain drift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POS tags: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tokens with grammatical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nltk.pos_tag(tokens)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identify issue noun phrases.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POS tags: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identify issue noun phrases.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POS tags: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tagger domain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tokens with grammatical roles; confirm identify issue noun phrases.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Named entities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hotel and location spans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measure entity 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hotel and location spans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measure entity precision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brand aliases missed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Named entities: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hotel and location spans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entity = hotel_name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measure entity precision.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Named entities: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measure entity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Named entities: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brand aliases missed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hotel and location spans; confirm measure entity precision.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Entity normalization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canonical hotel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merge spelling variants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canonical hotel names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merge spelling variants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false merges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Entity normalization: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canonical hotel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alias_map.get(name,name)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merge spelling variants.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Entity normalization: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merge spelling variants.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Entity normalization: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false merges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canonical hotel names; confirm merge spelling variants.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Co-occurrence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hotel × aspect 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count review-level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hotel × aspect edges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count review-level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long documents inflate links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Co-occurrence links: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hotel × aspect 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links[(hotel, aspect)] +=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count review-level links.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Co-occurrence links: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count review-level links.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Co-occurrence links: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long documents inflate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hotel × aspect edges; confirm count review-level links.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booking / room /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phrase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booking / room /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phrase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ambiguous terms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extraction: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booking / room /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text.str.contains("booking")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phrase context.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extraction: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phrase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extraction: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ambiguous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booking / room / support; confirm inspect phrase context.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rating, channel,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incremental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rating, channel, 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incremental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label leakage via rating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Feature engineering: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rating, channel, 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ColumnTransformer(...)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incremental value.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Feature engineering: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incremental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Feature engineering: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label leakage via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rating, channel, length; confirm compare incremental value.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TF-IDF document 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inertia curve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TF-IDF document vectors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inertia curve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cluster labels mistaken for truth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K-means clustering: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TF-IDF document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KMeans(n_clusters=3)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inertia curve.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K-means clustering: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inertia curve.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K-means clustering: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cluster labels mistaken for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TF-IDF document vectors; confirm inspect inertia curve.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Elbow diagnostic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inertia for k=2..5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look for diminishing returns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inertia for k=2..5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look for diminishing returns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no clear elbow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Elbow diagnostic: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inertia for k=2..5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model.inertia_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look for diminishing returns.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Elbow diagnostic: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look for diminishing returns.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Elbow diagnostic: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no clear elbow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inertia for k=2..5; confirm look for diminishing returns.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Supervised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labeled review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macro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labeled review corpus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macro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class imbalance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Supervised classification: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labeled review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LogisticRegression(max_iter=1000)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macro F1.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Supervised classification: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macro F1.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Supervised classification: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class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labeled review corpus; confirm compare macro F1.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MECHANISM · 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Error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false negative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review mistakes by aspect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false negative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review mistakes by aspect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metric-only evaluation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CODE · 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Error analysis: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false negative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confusion_matrix(y_true,y_pred)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review mistakes by aspect.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EDITABLE CHART · 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Error analysis: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review mistakes by aspect.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3 · DIAGNOSTIC · 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Error analysis: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metric-only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false negative examples; confirm review mistakes by aspect.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4: Sentiment modelling and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840480" cy="1463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0">
                <a:solidFill>
                  <a:srgbClr val="0F2D41"/>
                </a:solidFill>
                <a:latin typeface="Aptos"/>
              </a:defRPr>
            </a:pPr>
            <a:r>
              <a:t>Technical evidence from a synthetic Singapore hotel-review corpus</a:t>
            </a:r>
          </a:p>
        </p:txBody>
      </p:sp>
      <p:pic>
        <p:nvPicPr>
          <p:cNvPr id="10" name="Picture 9" descr="sentiment-divider-v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19"/>
            <a:ext cx="6720840" cy="37856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297680"/>
            <a:ext cx="3749039" cy="114300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333756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09199"/>
                </a:solidFill>
                <a:latin typeface="Aptos"/>
              </a:defRPr>
            </a:pPr>
            <a:r>
              <a:t>DATA → MODEL → INSIGHT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Lexicon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positive/negative term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negation examples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positive/negative term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negation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domain jargon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Lexicon baseline: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positive/negative term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score = pos_hits - neg_hits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negation examples.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Lexicon baseline: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negation examples.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Lexicon baseline: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domain jargon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positive/negative term scores; confirm inspect negation examples.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Sentiment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three-class annotation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audit rating mismatch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three-class annotation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audit rating mismatch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weak labels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Sentiment labels: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three-class annotation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pd.crosstab(rating,sentiment)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audit rating mismatch.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Sentiment labels: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audit rating mismatch.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Sentiment labels: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weak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three-class annotation; confirm audit rating mismatch.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75/25 train/holdout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preserve class proportions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75/25 train/holdout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preserve class proportions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tiny holdout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Stratified split: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75/25 train/holdout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train_test_split(..., stratify=y)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preserve class proportions.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Stratified split: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preserve class proportions.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Stratified split: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tiny holdout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75/25 train/holdout; confirm preserve class proportions.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Pipeline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TF-IDF then logistic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fit on training fold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TF-IDF then logistic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fit on training fold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pre-fit vectorizer leakage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Pipeline isolation: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TF-IDF then logistic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make_pipeline(TfidfVectorizer(), LogisticRegression())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fit on training fold only.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Pipeline isolation: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fit on training fold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Pipeline isolation: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pre-fit vectorizer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TF-IDF then logistic model; confirm fit on training fold only.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regularized 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coefficients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regularized logistic 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coefficients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overfitting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fit: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regularized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pipe.fit(X_train,y_train)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coefficients.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fit: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149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coefficients.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fit: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regularized logistic regression; confirm inspect coefficients.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class and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sample uncertain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class and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sample uncertain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confidence calibration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Predictions: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class and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pipe.predict(X_test)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sample uncertain cases.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Predictions: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sample uncertain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Predictions: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confidence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class and confidence; confirm sample uncertain cases.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true × predicted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negative misses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true × predicted 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negative misses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axis swap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Confusion matrix: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true × predicted 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confusion_matrix(y_test,pred)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negative misses.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Confusion matrix: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negative misses.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Confusion matrix: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axis swap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true × predicted counts; confirm inspect negative misses.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Precision and recall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per-class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trade triage capacity vs misses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per-class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trade triage capacity vs misses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accuracy-only reporting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Precision and recall: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per-class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classification_report(y_test,pred)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trade triage capacity vs misses.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Precision and recall: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trade triage capacity vs misses.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Precision and recall: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accuracy-only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per-class metrics; confirm trade triage capacity vs misses.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unweighted class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to majority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unweighted class mean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to majority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support ignored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Macro F1: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unweighted class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f1_score(...,average="macro")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to majority baseline.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Macro F1: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to majority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Macro F1: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support ignored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unweighted class mean; confirm compare to majority baseline.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data, metrics,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document deployment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data, metrics,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document deployment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unsupported claims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card: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data, metrics,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model_version + training_date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document deployment threshold.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card: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169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document deployment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Model card: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unsupported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data, metrics, limits; confirm document deployment threshold.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MECHANISM · 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TextBlob polarity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lexicon-derived polarity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to supervised holdout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lexicon-derived polarity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to supervised holdout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domain-specific wording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CODE · 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TextBlob polarity: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lexicon-derived polarity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TextBlob(text).sentiment.polarity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to supervised holdout.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EDITABLE CHART · 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TextBlob polarity: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to supervised holdout.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4 · DIAGNOSTIC · 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TextBlob polarity: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domain-specific wording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lexicon-derived polarity score; confirm compare to supervised holdout.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5: Summarization and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840480" cy="1463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0">
                <a:solidFill>
                  <a:srgbClr val="0F2D41"/>
                </a:solidFill>
                <a:latin typeface="Aptos"/>
              </a:defRPr>
            </a:pPr>
            <a:r>
              <a:t>Technical evidence from a synthetic Singapore hotel-review corpus</a:t>
            </a:r>
          </a:p>
        </p:txBody>
      </p:sp>
      <p:pic>
        <p:nvPicPr>
          <p:cNvPr id="10" name="Picture 9" descr="sentiment-divider-v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19"/>
            <a:ext cx="6720840" cy="37856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297680"/>
            <a:ext cx="3749039" cy="114300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333756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09199"/>
                </a:solidFill>
                <a:latin typeface="Aptos"/>
              </a:defRPr>
            </a:pPr>
            <a:r>
              <a:t>DATA → MODEL → INSIGHT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sentiment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aspect × polarity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rank negative issues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aspect × polarity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rank negative 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mention overlap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sentiment: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aspect × polarity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pd.crosstab(aspect,sentiment)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rank negative issues.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sentiment: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rank negative issues.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Aspect sentiment: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mention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aspect × polarity table; confirm rank negative issues.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Hotel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normalized sentiment shares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property mix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normalized sentiment shares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property mix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different sample sizes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Hotel comparison: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normalized sentiment shares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pd.crosstab(hotel,sentiment,normalize="index")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property mix.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Hotel comparison: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property mix.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Hotel comparison: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different sample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normalized sentiment shares; confirm compare property mix.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Trend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monthly negative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detect sustained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monthly negative share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detect sustained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small cell counts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Trend analysis: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monthly negative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groupby(month).mean()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detect sustained change.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Trend analysis: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detect sustained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Trend analysis: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small cell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monthly negative share; confirm detect sustained change.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representative review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preserve source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representative review sentences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preserve source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misleading cherry-pick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summary: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representative review sentences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rank by cosine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preserve source ID.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summary: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preserve source 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summary: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misleading cherry-pick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representative review sentences; confirm preserve source ID.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document-topic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inspect top terms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document-topic distribution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inspect top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unstable topics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modelling: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document-topic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LatentDirichletAllocation(...)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inspect top terms.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modelling: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inspect top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Topic modelling: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unstable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document-topic distribution; confirm inspect top terms.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LDA vs NMF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probabilistic vs matrix factorization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topic coherence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probabilistic vs matrix factorization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topic coherence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topic count arbitrary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LDA vs NMF: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probabilistic vs matrix factorization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NMF(n_components=3)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topic coherence.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LDA vs NMF: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topic coherence.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LDA vs NMF: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topic count arbitrary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probabilistic vs matrix factorization; confirm compare topic coherence.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Visual encoding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stacked sentiment bars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show denominators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stacked sentiment bars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show denominators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colour-only meaning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Visual encoding: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stacked sentiment bars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ax.bar(..., label=...)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show denominators.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Visual encoding: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show denominators.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Visual encoding: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colour-only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stacked sentiment bars; confirm show denominators.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Insight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observation + evidence +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tie finding to hotel owner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observation + evidence +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tie finding to hotel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causality overclaim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Insight statement: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observation + evidence +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negative share and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tie finding to hotel owner.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Insight statement: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tie finding to hotel owner.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Insight statement: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causality overclaim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observation + evidence + action; confirm tie finding to hotel owner.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spot-check source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confirm summary fidelity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spot-check source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confirm summary fidelity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hallucinated summary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Quality check: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spot-check source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review_id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confirm summary fidelity.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Quality check: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confirm summary fidelity.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Quality check: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hallucinated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spot-check source reviews; confirm confirm summary fidelity.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Delivery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chart, table,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reproduce with script and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chart, table, 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reproduce with script and 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unreproducible dashboard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Delivery pack: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chart, table,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output/sentiment_by_hotel.csv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reproduce with script and CSV.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Delivery pack: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reproduce with script and CSV.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Delivery pack: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unreproducible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chart, table, methods; confirm reproduce with script and CSV.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Transformer summarization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source text to condensed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compare summary with review 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source text to condensed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compare summary with review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unsupported generated claim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Transformer summarization: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source text to condensed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pipeline("summarization")(text)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compare summary with review IDs.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Transformer summarization: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compare summary with review IDs.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Transformer summarization: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unsupported generated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source text to condensed output; confirm compare summary with review IDs.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MECHANISM · 5.12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vs abstractive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475488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INPUT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475488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selected sentences vs generated paraphrase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ANALYTICAL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8463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1">
                <a:solidFill>
                  <a:srgbClr val="0F2D41"/>
                </a:solidFill>
                <a:latin typeface="Aptos"/>
              </a:defRPr>
            </a:pPr>
            <a:r>
              <a:t>verify factual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selected sentences vs generated paraphrase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verify factual consistency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3794760"/>
            <a:ext cx="3337560" cy="141732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968496"/>
            <a:ext cx="2926080" cy="31089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009199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361688"/>
            <a:ext cx="292608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1">
                <a:solidFill>
                  <a:srgbClr val="0F2D41"/>
                </a:solidFill>
                <a:latin typeface="Aptos"/>
              </a:defRPr>
            </a:pPr>
            <a:r>
              <a:t>missing complaint qualifier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CODE · 5.12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vs abstractive: reproducible Python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3337560"/>
          </a:xfrm>
          <a:prstGeom prst="roundRect">
            <a:avLst/>
          </a:prstGeom>
          <a:solidFill>
            <a:srgbClr val="0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EXAMPLE INPUT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9966960" cy="502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selected sentences vs generated paraphrase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996696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1">
                <a:solidFill>
                  <a:srgbClr val="6AD6D5"/>
                </a:solidFill>
                <a:latin typeface="Aptos"/>
              </a:defRPr>
            </a:pPr>
            <a:r>
              <a:t>PYTHON EXPRESSION OR ANALYTICAL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9966960" cy="1051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source_sentence_id +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6984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Evidence to inspect: verify factual consistency.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EDITABLE CHART · 5.12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vs abstractive: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8288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READ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37744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273845"/>
                </a:solidFill>
                <a:latin typeface="Aptos"/>
              </a:defRPr>
            </a:pPr>
            <a:r>
              <a:t>Illustrative counts from a 120-review synthetic corpus.</a:t>
            </a:r>
            <a:br/>
            <a:br/>
            <a:r>
              <a:t>Interpret alongside: verify factual 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57800"/>
            <a:ext cx="2468880" cy="548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0">
                <a:solidFill>
                  <a:srgbClr val="667781"/>
                </a:solidFill>
                <a:latin typeface="Aptos"/>
              </a:defRPr>
            </a:pPr>
            <a:r>
              <a:t>Editable PowerPoint chart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TOPIC 5 · DIAGNOSTIC · 5.12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Extractive vs abstractive: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383280"/>
          </a:xfrm>
          <a:prstGeom prst="round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CC5250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52628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300" b="1">
                <a:solidFill>
                  <a:srgbClr val="0F2D41"/>
                </a:solidFill>
                <a:latin typeface="Aptos"/>
              </a:defRPr>
            </a:pPr>
            <a:r>
              <a:t>missing complaint qualifier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009199"/>
                </a:solidFill>
                <a:latin typeface="Aptos"/>
              </a:defRPr>
            </a:pPr>
            <a:r>
              <a:t>CONTROL /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34840" cy="20116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100" b="1">
                <a:solidFill>
                  <a:srgbClr val="0F2D41"/>
                </a:solidFill>
                <a:latin typeface="Aptos"/>
              </a:defRPr>
            </a:pPr>
            <a:r>
              <a:t>Check selected sentences vs generated paraphrase; confirm verify factual consistency.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Your trainer — profile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65760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94560"/>
            <a:ext cx="3017520" cy="10972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700" b="1">
                <a:solidFill>
                  <a:srgbClr val="0F2D41"/>
                </a:solidFill>
                <a:latin typeface="Aptos"/>
              </a:defRPr>
            </a:pPr>
            <a:r>
              <a:t>TRAINER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292608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009199"/>
                </a:solidFill>
                <a:latin typeface="Aptos"/>
              </a:defRPr>
            </a:pPr>
            <a:r>
              <a:t>To be completed by the assigned 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28800"/>
            <a:ext cx="649224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240280"/>
            <a:ext cx="5669280" cy="2468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000" b="0">
                <a:solidFill>
                  <a:srgbClr val="0F2D41"/>
                </a:solidFill>
                <a:latin typeface="Aptos"/>
              </a:defRPr>
            </a:pPr>
            <a:r>
              <a:t>Role / designation</a:t>
            </a:r>
            <a:br/>
            <a:r>
              <a:t>Relevant qualifications</a:t>
            </a:r>
            <a:br/>
            <a:r>
              <a:t>Text analytics experience</a:t>
            </a:r>
            <a:br/>
            <a:r>
              <a:t>Contact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COURSE ADMINISTRATION · 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65760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2834640" cy="1005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283464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009199"/>
                </a:solidFill>
                <a:latin typeface="Aptos"/>
              </a:defRPr>
            </a:pPr>
            <a:r>
              <a:t>Trainer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28800"/>
            <a:ext cx="6492240" cy="33832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286000"/>
            <a:ext cx="562356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000" b="0">
                <a:solidFill>
                  <a:srgbClr val="0F2D41"/>
                </a:solidFill>
                <a:latin typeface="Aptos"/>
              </a:defRPr>
            </a:pPr>
            <a:r>
              <a:t>Python and applied analytics instruction</a:t>
            </a:r>
            <a:br/>
            <a:r>
              <a:t>Course developer and adult educator</a:t>
            </a:r>
            <a:br/>
            <a:r>
              <a:t>Facilitates evidence-based practical learning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606040" cy="13258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24328"/>
            <a:ext cx="228600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F2D41"/>
                </a:solidFill>
                <a:latin typeface="Aptos"/>
              </a:defRPr>
            </a:pPr>
            <a:r>
              <a:t>Course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286000"/>
            <a:ext cx="2606040" cy="13258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624328"/>
            <a:ext cx="228600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F2D41"/>
                </a:solidFill>
                <a:latin typeface="Aptos"/>
              </a:defRPr>
            </a:pPr>
            <a:r>
              <a:t>Learner Slide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286000"/>
            <a:ext cx="2606040" cy="13258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24328"/>
            <a:ext cx="228600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F2D41"/>
                </a:solidFill>
                <a:latin typeface="Aptos"/>
              </a:defRPr>
            </a:pPr>
            <a:r>
              <a:t>Learner Guide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2286000"/>
            <a:ext cx="2606040" cy="132588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3456" y="2624328"/>
            <a:ext cx="228600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0F2D41"/>
                </a:solidFill>
                <a:latin typeface="Aptos"/>
              </a:defRPr>
            </a:pPr>
            <a:r>
              <a:t>Lab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0515600" cy="8229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009199"/>
                </a:solidFill>
                <a:latin typeface="Aptos"/>
              </a:defRPr>
            </a:pPr>
            <a:r>
              <a:t>lms-tms.tertiaryinfotech.com  ·  open the course record and use its material links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3832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200" b="0">
                <a:solidFill>
                  <a:srgbClr val="0F2D41"/>
                </a:solidFill>
                <a:latin typeface="Aptos"/>
              </a:defRPr>
            </a:pPr>
            <a:r>
              <a:t>Written Assessment: 60 min, open book.</a:t>
            </a:r>
            <a:br/>
            <a:r>
              <a:t>Practical Performance: 90 min, open book.</a:t>
            </a:r>
            <a:br/>
            <a:r>
              <a:t>Submit only your own work through the LMS.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2011680" cy="123444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173736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600" b="1">
                <a:solidFill>
                  <a:srgbClr val="0F2D41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2377440"/>
            <a:ext cx="2011680" cy="123444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688336"/>
            <a:ext cx="173736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600" b="1">
                <a:solidFill>
                  <a:srgbClr val="0F2D41"/>
                </a:solidFill>
                <a:latin typeface="Aptos"/>
              </a:defRPr>
            </a:pPr>
            <a:r>
              <a:t>WA (SAQ)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8072" y="2377440"/>
            <a:ext cx="2011680" cy="123444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88336"/>
            <a:ext cx="173736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600" b="1">
                <a:solidFill>
                  <a:srgbClr val="0F2D41"/>
                </a:solidFill>
                <a:latin typeface="Aptos"/>
              </a:defRPr>
            </a:pPr>
            <a:r>
              <a:t>PP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377440"/>
            <a:ext cx="2011680" cy="123444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688336"/>
            <a:ext cx="173736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600" b="1">
                <a:solidFill>
                  <a:srgbClr val="0F2D41"/>
                </a:solidFill>
                <a:latin typeface="Aptos"/>
              </a:defRPr>
            </a:pPr>
            <a:r>
              <a:t>LMS submission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93224" y="2377440"/>
            <a:ext cx="2011680" cy="1234440"/>
          </a:xfrm>
          <a:prstGeom prst="round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8672" y="2688336"/>
            <a:ext cx="1737360" cy="685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600" b="1">
                <a:solidFill>
                  <a:srgbClr val="0F2D41"/>
                </a:solidFill>
                <a:latin typeface="Aptos"/>
              </a:defRPr>
            </a:pPr>
            <a:r>
              <a:t>Assessor sign-off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058400" cy="1828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400" b="0">
                <a:solidFill>
                  <a:srgbClr val="0F2D41"/>
                </a:solidFill>
                <a:latin typeface="Aptos"/>
              </a:defRPr>
            </a:pPr>
            <a:r>
              <a:t>Complete AM, PM and assessment attendance using the provider QR process.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009199"/>
                </a:solidFill>
                <a:latin typeface="Aptos"/>
              </a:defRPr>
            </a:pPr>
            <a: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800" b="1">
                <a:solidFill>
                  <a:srgbClr val="0F2D41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064240" cy="22860"/>
          </a:xfrm>
          <a:prstGeom prst="rect">
            <a:avLst/>
          </a:prstGeom>
          <a:solidFill>
            <a:srgbClr val="EB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05840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Python Text Mining and Analytics: Transforming Text into Insights · TGS-2026064715 · v15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640080" cy="2103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0">
                <a:solidFill>
                  <a:srgbClr val="667781"/>
                </a:solidFill>
                <a:latin typeface="Aptos"/>
              </a:defRPr>
            </a:pPr>
            <a:r>
              <a:t>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058400" cy="18288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500" b="0">
                <a:solidFill>
                  <a:srgbClr val="0F2D41"/>
                </a:solidFill>
                <a:latin typeface="Aptos"/>
              </a:defRPr>
            </a:pPr>
            <a:r>
              <a:t>Reproduce the analysis, inspect errors, and support every insight with a source review 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